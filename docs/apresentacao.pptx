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a e perguntas" id="{d36e2c57-d814-bf1b-a463-512f3a5ce3f1}">
          <p14:sldIdLst>
            <p14:sldId id="256"/>
            <p14:sldId id="257"/>
            <p14:sldId id="258"/>
          </p14:sldIdLst>
        </p14:section>
        <p14:section name="Dados e preparação" id="{33b3e885-c792-6d4e-51c0-2bcaca04f455}">
          <p14:sldIdLst>
            <p14:sldId id="259"/>
          </p14:sldIdLst>
        </p14:section>
        <p14:section name="Gráficos" id="{282ab798-5d4e-6009-3639-bb8eae9d4686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Respostas e aprendizados" id="{52f311ab-f118-9561-6b9d-1371bb292851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Luan: Nosso projeto pergunta se o país mais rico ganha a Copa. Analisamos 488 jogos das Copas de 1990 a 2018.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Luan: O futebol tem fama de ser democrático: basta uma bola. Mas países ricos investem mais em estrutura e base. Quisemos testar essa tensão com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Luan: ler as cinco perguntas rapidamente. As três primeiras olham cada jogo; as duas últimas olham as seleções.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Miguel: Usamos dois datasets da Maven Analytics: os jogos de Copa e os indicadores do PNUD. A renda vinha com uma coluna por ano, então usamos pd.melt para virar linhas. Os nomes das seleções não batiam com os países, então criamos uma tabela de códigos: Inglaterra e Escócia viraram Reino Unido. Pênaltis contam como empate, porque têm muito de acaso. Só 8 jogos ficaram sem renda: Iugoslávia em 1990 e Coreia do Norte em 2010.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Miguel: O país mais rico venceu 44% e perdeu 33%. Testamos se isso poderia ser sorte: entre os jogos sem empate, foram 209 vitórias contra 157 derrotas, e a chance de acaso é menor que 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Miguel: Quando o rico vence, a distância de renda é maior: mediana de 22 mil dólares, contra 15 mil nas derrotas. Mas as caixas se sobrepõem bastante.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Miguel: A vantagem subiu até 53% em 2006 e voltou para 44% em 2018. Como cada Copa tem só uns 60 jogos, não dá para afirmar uma tendência.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Miguel: Europa e América do Sul somam 83% das vitórias. África, Ásia e Oceania aparecem em tons claros.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Gabriel: Sete dos dez maiores vencedores são países ricos. Mas olhem o topo: Brasil e Argentina, segundo e terceiro, têm renda abaixo da mediana. A tradição sul-americana é o maior contraexemplo.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Gabriel: Seleções de IDH mais alto vencem 43% dos jogos, contra 33% das de IDH mais baixo. Mas a correlação do IDH com os gols é fraca: 0,17.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Gabriel: No mapa de correlações, a renda quase não se liga ao aproveitamento: 0,13. O que explica o aproveitamento são os gols, com 0,68. Ou seja, quem decide é o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Luan: O dinheiro ajuda, mas não decide. Limitações: a renda do país não mede o investimento no futebol, os dados vão só de 1990 a 2018, e correlação não é causa.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Gabriel: Aprendemos que juntar fontes exige padronizar chaves, que o título do gráfico deve dizer a conclusão e que vale testar se uma diferença não é acaso. Como próximo passo, usaríamos o valor de mercado dos elencos e o ranking FIFA. Obrigado. Perguntas?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051560"/>
            <a:ext cx="96012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39496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31520"/>
            <a:ext cx="10789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PROJETO FINAL · VISUALIZAÇÃO DE DADOS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05156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O país mais rico ganha a Copa?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Futebol e economia em 488 jogos de Copa do Mundo, de 1990 a 2018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394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Luan Saviski · Miguel Gradella · Gabriel Wendt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SENAI CIC · Turma Bosch · Profa. Lívia Stein Freitas · 2026</a:t>
            </a:r>
            <a:endParaRPr lang="en-US" sz="1500" dirty="0"/>
          </a:p>
        </p:txBody>
      </p:sp>
      <p:sp>
        <p:nvSpPr>
          <p:cNvPr id="6" name="bola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ln w="355600">
            <a:solidFill>
              <a:schemeClr val="accent2">
                <a:alpha val="30000"/>
              </a:scheme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POR QUE ESTE TEMA?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315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futebol é democrático, ou o dinheiro decide?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Futebol e economia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685800" y="2011680"/>
            <a:ext cx="521208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 IDEIA POPULAR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7432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Basta uma bola: qualquer país pode vencer uma potência.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6263640" y="2011680"/>
            <a:ext cx="521208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8368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 OUTRO LADO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7432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Países ricos investem mais em estrutura, base e ciência do esporte.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846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</a:rPr>
              <a:t>Testamos essa tensão com dados.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NOSSAS PERGUNTAS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315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Cinco perguntas sobre dinheiro e resultado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Futebol e economia</a:t>
            </a:r>
            <a:endParaRPr lang="en-US" sz="1000" dirty="0"/>
          </a:p>
        </p:txBody>
      </p:sp>
      <p:sp>
        <p:nvSpPr>
          <p:cNvPr id="6" name="num1"/>
          <p:cNvSpPr/>
          <p:nvPr/>
        </p:nvSpPr>
        <p:spPr>
          <a:xfrm>
            <a:off x="685800" y="18745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874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 país mais rico vence com mais frequência?</a:t>
            </a:r>
            <a:endParaRPr lang="en-US" sz="2200" dirty="0"/>
          </a:p>
        </p:txBody>
      </p:sp>
      <p:sp>
        <p:nvSpPr>
          <p:cNvPr id="9" name="num2"/>
          <p:cNvSpPr/>
          <p:nvPr/>
        </p:nvSpPr>
        <p:spPr>
          <a:xfrm>
            <a:off x="685800" y="267919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267919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 distância de renda é maior quando o rico vence?</a:t>
            </a:r>
            <a:endParaRPr lang="en-US" sz="2200" dirty="0"/>
          </a:p>
        </p:txBody>
      </p:sp>
      <p:sp>
        <p:nvSpPr>
          <p:cNvPr id="12" name="num3"/>
          <p:cNvSpPr/>
          <p:nvPr/>
        </p:nvSpPr>
        <p:spPr>
          <a:xfrm>
            <a:off x="685800" y="348386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" y="3483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348386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Essa vantagem mudou de 1990 a 2018?</a:t>
            </a:r>
            <a:endParaRPr lang="en-US" sz="2200" dirty="0"/>
          </a:p>
        </p:txBody>
      </p:sp>
      <p:sp>
        <p:nvSpPr>
          <p:cNvPr id="15" name="num4"/>
          <p:cNvSpPr/>
          <p:nvPr/>
        </p:nvSpPr>
        <p:spPr>
          <a:xfrm>
            <a:off x="685800" y="42885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" y="4288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428853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Onde estão os países que mais venceram?</a:t>
            </a:r>
            <a:endParaRPr lang="en-US" sz="2200" dirty="0"/>
          </a:p>
        </p:txBody>
      </p:sp>
      <p:sp>
        <p:nvSpPr>
          <p:cNvPr id="18" name="num5"/>
          <p:cNvSpPr/>
          <p:nvPr/>
        </p:nvSpPr>
        <p:spPr>
          <a:xfrm>
            <a:off x="685800" y="509320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85800" y="5093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463040" y="509320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Países com IDH maior marcam mais gols e vencem mais?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OS DADOS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315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Cada jogo de Copa cruzado com a renda dos dois países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Fonte: Maven Analytics · World Cup e World Economic Indicators (PNUD)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685800" y="1920240"/>
            <a:ext cx="251460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21488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488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063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jogos de Copa (World Cup · Maven)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3429000" y="1920240"/>
            <a:ext cx="251460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703320" y="21488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8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3703320" y="3063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Copas, de 1990 a 2018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6172200" y="1920240"/>
            <a:ext cx="251460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46520" y="21488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195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063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países com renda e IDH (PNUD · Maven)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8915400" y="1920240"/>
            <a:ext cx="251460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89720" y="21488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98%</a:t>
            </a:r>
            <a:endParaRPr lang="en-US" sz="54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3063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dos jogos com renda dos dois lados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85800" y="468172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05840" y="452628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Renda convertida em linhas com pd.melt(); seleções ligadas ao país por código (Inglaterra → Reino Unido)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85800" y="5038344"/>
            <a:ext cx="1078992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5248656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05840" y="5093208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Pênaltis contam como empate; só 8 jogos ficaram sem renda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85800" y="5605272"/>
            <a:ext cx="1078992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PERGUNTA 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315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país mais rico venceu 44% dos jogos e perdeu 33%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Fonte: Maven Analytics · World Cup e World Economic Indicators (PNUD) · Copas de 1990 a 2018</a:t>
            </a:r>
            <a:endParaRPr lang="en-US" sz="1000" dirty="0"/>
          </a:p>
        </p:txBody>
      </p:sp>
      <p:pic>
        <p:nvPicPr>
          <p:cNvPr id="6" name="grafico" descr="01_resultado_mais_r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049" y="1783080"/>
            <a:ext cx="7681902" cy="4434840"/>
          </a:xfrm>
          <a:prstGeom prst="rect">
            <a:avLst/>
          </a:prstGeom>
        </p:spPr>
      </p:pic>
      <p:sp>
        <p:nvSpPr>
          <p:cNvPr id="7" name="nota-fundo"/>
          <p:cNvSpPr/>
          <p:nvPr/>
        </p:nvSpPr>
        <p:spPr>
          <a:xfrm>
            <a:off x="8732520" y="2377440"/>
            <a:ext cx="2743200" cy="2377440"/>
          </a:xfrm>
          <a:prstGeom prst="roundRect">
            <a:avLst>
              <a:gd name="adj" fmla="val 4615"/>
            </a:avLst>
          </a:prstGeom>
          <a:solidFill>
            <a:schemeClr val="accent6"/>
          </a:solidFill>
          <a:ln/>
        </p:spPr>
      </p:sp>
      <p:sp>
        <p:nvSpPr>
          <p:cNvPr id="8" name="nota"/>
          <p:cNvSpPr txBox="1"/>
          <p:nvPr/>
        </p:nvSpPr>
        <p:spPr>
          <a:xfrm>
            <a:off x="8961120" y="25146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Vantagem real,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não acaso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: 209 vitórias contra 157 derrotas.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PERGUNTA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315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Quanto maior a distância de renda, um pouco mais o rico vence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Fonte: Maven Analytics · World Cup e World Economic Indicators (PNUD) · Copas de 1990 a 2018</a:t>
            </a:r>
            <a:endParaRPr lang="en-US" sz="1000" dirty="0"/>
          </a:p>
        </p:txBody>
      </p:sp>
      <p:pic>
        <p:nvPicPr>
          <p:cNvPr id="6" name="grafico" descr="02_diferenca_renda_por_result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531" y="1783080"/>
            <a:ext cx="7268939" cy="4434840"/>
          </a:xfrm>
          <a:prstGeom prst="rect">
            <a:avLst/>
          </a:prstGeom>
        </p:spPr>
      </p:pic>
      <p:sp>
        <p:nvSpPr>
          <p:cNvPr id="7" name="nota-fundo"/>
          <p:cNvSpPr/>
          <p:nvPr/>
        </p:nvSpPr>
        <p:spPr>
          <a:xfrm>
            <a:off x="8732520" y="2377440"/>
            <a:ext cx="2743200" cy="2377440"/>
          </a:xfrm>
          <a:prstGeom prst="roundRect">
            <a:avLst>
              <a:gd name="adj" fmla="val 4615"/>
            </a:avLst>
          </a:prstGeom>
          <a:solidFill>
            <a:schemeClr val="accent6"/>
          </a:solidFill>
          <a:ln/>
        </p:spPr>
      </p:sp>
      <p:sp>
        <p:nvSpPr>
          <p:cNvPr id="8" name="nota"/>
          <p:cNvSpPr txBox="1"/>
          <p:nvPr/>
        </p:nvSpPr>
        <p:spPr>
          <a:xfrm>
            <a:off x="8961120" y="25146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Mediana de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US$ 22 mil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nas vitórias contra US$ 15 mil nas derrotas. As caixas se sobrepõem.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PERGUNTA 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315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vantagem subiu até 2006 e voltou à média em 2018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Fonte: Maven Analytics · World Cup e World Economic Indicators (PNUD) · Copas de 1990 a 2018</a:t>
            </a:r>
            <a:endParaRPr lang="en-US" sz="1000" dirty="0"/>
          </a:p>
        </p:txBody>
      </p:sp>
      <p:pic>
        <p:nvPicPr>
          <p:cNvPr id="6" name="grafico" descr="03_vantagem_mais_rico_por_co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53555"/>
            <a:ext cx="7772400" cy="4293889"/>
          </a:xfrm>
          <a:prstGeom prst="rect">
            <a:avLst/>
          </a:prstGeom>
        </p:spPr>
      </p:pic>
      <p:sp>
        <p:nvSpPr>
          <p:cNvPr id="7" name="nota-fundo"/>
          <p:cNvSpPr/>
          <p:nvPr/>
        </p:nvSpPr>
        <p:spPr>
          <a:xfrm>
            <a:off x="8732520" y="2377440"/>
            <a:ext cx="2743200" cy="2377440"/>
          </a:xfrm>
          <a:prstGeom prst="roundRect">
            <a:avLst>
              <a:gd name="adj" fmla="val 4615"/>
            </a:avLst>
          </a:prstGeom>
          <a:solidFill>
            <a:schemeClr val="accent6"/>
          </a:solidFill>
          <a:ln/>
        </p:spPr>
      </p:sp>
      <p:sp>
        <p:nvSpPr>
          <p:cNvPr id="8" name="nota"/>
          <p:cNvSpPr txBox="1"/>
          <p:nvPr/>
        </p:nvSpPr>
        <p:spPr>
          <a:xfrm>
            <a:off x="8961120" y="25146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Sem tendência clara: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cerca de 60 jogos por Copa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deixam espaço para o acaso.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PERGUNTA 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315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Europa e América do Sul somam 83% das vitórias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Fonte: Maven Analytics · World Cup · contornos: Natural Earth</a:t>
            </a:r>
            <a:endParaRPr lang="en-US" sz="1000" dirty="0"/>
          </a:p>
        </p:txBody>
      </p:sp>
      <p:pic>
        <p:nvPicPr>
          <p:cNvPr id="6" name="grafico" descr="04_mapa_vitor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183" y="1737360"/>
            <a:ext cx="6751154" cy="4526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PERGUNTA 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315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Brasil e Argentina vencem muito sem ser ricos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Fonte: Maven Analytics · World Cup e World Economic Indicators (PNUD) · Copas de 1990 a 2018</a:t>
            </a:r>
            <a:endParaRPr lang="en-US" sz="1000" dirty="0"/>
          </a:p>
        </p:txBody>
      </p:sp>
      <p:pic>
        <p:nvPicPr>
          <p:cNvPr id="6" name="grafico" descr="05_top10_vitor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363" y="1783080"/>
            <a:ext cx="6775275" cy="4434840"/>
          </a:xfrm>
          <a:prstGeom prst="rect">
            <a:avLst/>
          </a:prstGeom>
        </p:spPr>
      </p:pic>
      <p:sp>
        <p:nvSpPr>
          <p:cNvPr id="7" name="nota-fundo"/>
          <p:cNvSpPr/>
          <p:nvPr/>
        </p:nvSpPr>
        <p:spPr>
          <a:xfrm>
            <a:off x="8732520" y="2377440"/>
            <a:ext cx="2743200" cy="2377440"/>
          </a:xfrm>
          <a:prstGeom prst="roundRect">
            <a:avLst>
              <a:gd name="adj" fmla="val 4615"/>
            </a:avLst>
          </a:prstGeom>
          <a:solidFill>
            <a:schemeClr val="accent6"/>
          </a:solidFill>
          <a:ln/>
        </p:spPr>
      </p:sp>
      <p:sp>
        <p:nvSpPr>
          <p:cNvPr id="8" name="nota"/>
          <p:cNvSpPr txBox="1"/>
          <p:nvPr/>
        </p:nvSpPr>
        <p:spPr>
          <a:xfrm>
            <a:off x="8961120" y="25146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7 dos 10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maiores vencedores são ricos. As exceções estão no topo.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PERGUNTA 5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315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IDH mais alto vence 43% dos jogos; IDH mais baixo, 33%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Fonte: Maven Analytics · World Cup e World Economic Indicators (PNUD) · Copas de 1990 a 2018</a:t>
            </a:r>
            <a:endParaRPr lang="en-US" sz="1000" dirty="0"/>
          </a:p>
        </p:txBody>
      </p:sp>
      <p:pic>
        <p:nvPicPr>
          <p:cNvPr id="6" name="grafico" descr="07_aproveitamento_por_faixa_id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581" y="1783080"/>
            <a:ext cx="7358839" cy="4434840"/>
          </a:xfrm>
          <a:prstGeom prst="rect">
            <a:avLst/>
          </a:prstGeom>
        </p:spPr>
      </p:pic>
      <p:sp>
        <p:nvSpPr>
          <p:cNvPr id="7" name="nota-fundo"/>
          <p:cNvSpPr/>
          <p:nvPr/>
        </p:nvSpPr>
        <p:spPr>
          <a:xfrm>
            <a:off x="8732520" y="2377440"/>
            <a:ext cx="2743200" cy="2377440"/>
          </a:xfrm>
          <a:prstGeom prst="roundRect">
            <a:avLst>
              <a:gd name="adj" fmla="val 4615"/>
            </a:avLst>
          </a:prstGeom>
          <a:solidFill>
            <a:schemeClr val="accent6"/>
          </a:solidFill>
          <a:ln/>
        </p:spPr>
      </p:sp>
      <p:sp>
        <p:nvSpPr>
          <p:cNvPr id="8" name="nota"/>
          <p:cNvSpPr txBox="1"/>
          <p:nvPr/>
        </p:nvSpPr>
        <p:spPr>
          <a:xfrm>
            <a:off x="8961120" y="25146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Mas IDH e gols por jogo têm correlação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fraca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: r = 0,17.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O QUE EXPLICA O DESEMPENHO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315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decide é o campo: gols pesam muito mais que a renda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Fonte: Maven Analytics · World Cup e World Economic Indicators (PNUD) · Copas de 1990 a 2018</a:t>
            </a:r>
            <a:endParaRPr lang="en-US" sz="1000" dirty="0"/>
          </a:p>
        </p:txBody>
      </p:sp>
      <p:pic>
        <p:nvPicPr>
          <p:cNvPr id="6" name="grafico" descr="09_correlacao_indicad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840" y="1783080"/>
            <a:ext cx="6116320" cy="4434840"/>
          </a:xfrm>
          <a:prstGeom prst="rect">
            <a:avLst/>
          </a:prstGeom>
        </p:spPr>
      </p:pic>
      <p:sp>
        <p:nvSpPr>
          <p:cNvPr id="7" name="nota-fundo"/>
          <p:cNvSpPr/>
          <p:nvPr/>
        </p:nvSpPr>
        <p:spPr>
          <a:xfrm>
            <a:off x="8732520" y="2377440"/>
            <a:ext cx="2743200" cy="2377440"/>
          </a:xfrm>
          <a:prstGeom prst="roundRect">
            <a:avLst>
              <a:gd name="adj" fmla="val 4615"/>
            </a:avLst>
          </a:prstGeom>
          <a:solidFill>
            <a:schemeClr val="accent6"/>
          </a:solidFill>
          <a:ln/>
        </p:spPr>
      </p:sp>
      <p:sp>
        <p:nvSpPr>
          <p:cNvPr id="8" name="nota"/>
          <p:cNvSpPr txBox="1"/>
          <p:nvPr/>
        </p:nvSpPr>
        <p:spPr>
          <a:xfrm>
            <a:off x="8961120" y="25146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Renda × aproveitamento: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0,13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Gols marcados × aproveitamento: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0,68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RESPOSTAS E LIMITAÇÕES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315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dinheiro ajuda, mas não decide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Futebol e economia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830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2"/>
                </a:solidFill>
              </a:rPr>
              <a:t>RESPOSTAS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945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2194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Rico vence mais?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4069080" y="2194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Sim, 44% × 33%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85800" y="2798064"/>
            <a:ext cx="621792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Distância pesa?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06908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Pouco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85800" y="3483864"/>
            <a:ext cx="621792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5661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3566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Mudou no tempo?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3566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Oscilou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685800" y="4169664"/>
            <a:ext cx="621792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2519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4251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Onde vencem?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4069080" y="4251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Europa e Am. do Sul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685800" y="4855464"/>
            <a:ext cx="621792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49377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4937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IDH e gols?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4069080" y="4937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Relação fraca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685800" y="5541264"/>
            <a:ext cx="621792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2"/>
                </a:solidFill>
              </a:rPr>
              <a:t>LIMITAÇÕES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498080" y="239572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81812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Renda do país ≠ investimento no futebol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7498080" y="2752344"/>
            <a:ext cx="397764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98080" y="2962656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818120" y="2807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Só de 1990 a 2018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7498080" y="3319272"/>
            <a:ext cx="397764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98080" y="3529584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7818120" y="33741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Inglaterra e Escócia = Reino Unido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7498080" y="3886200"/>
            <a:ext cx="397764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98080" y="4096512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818120" y="39410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Correlação não é causa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7498080" y="4453128"/>
            <a:ext cx="397764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APRENDIZADOS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315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aprendemos e o que faríamos a seguir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github.com/USUARIO/futebol-e-economia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2"/>
                </a:solidFill>
              </a:rPr>
              <a:t>APRENDEMOS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5800" y="239572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22402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Juntar fontes diferentes exige padronizar chaves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2752344"/>
            <a:ext cx="512064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2962656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05840" y="28072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título do gráfico deve contar a conclusão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85800" y="3319272"/>
            <a:ext cx="512064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3529584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05840" y="337413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Testar se uma diferença não é acaso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85800" y="3886200"/>
            <a:ext cx="512064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5508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2"/>
                </a:solidFill>
              </a:rPr>
              <a:t>PRÓXIMOS PASSOS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55080" y="239572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675120" y="22402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Valor de mercado dos elencos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355080" y="2752344"/>
            <a:ext cx="512064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55080" y="2962656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675120" y="28072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Ranking FIFA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355080" y="3319272"/>
            <a:ext cx="512064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55080" y="3529584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675120" y="337413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17 mil jogos internacionais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355080" y="3886200"/>
            <a:ext cx="512064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26" name="perguntas-fundo"/>
          <p:cNvSpPr/>
          <p:nvPr/>
        </p:nvSpPr>
        <p:spPr>
          <a:xfrm>
            <a:off x="685800" y="4663440"/>
            <a:ext cx="1078992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51560" y="4663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Perguntas?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tebol e economia">
  <a:themeElements>
    <a:clrScheme name="Futebol e economia">
      <a:dk1>
        <a:srgbClr val="1F1F1F"/>
      </a:dk1>
      <a:lt1>
        <a:srgbClr val="FFFFFF"/>
      </a:lt1>
      <a:dk2>
        <a:srgbClr val="666666"/>
      </a:dk2>
      <a:lt2>
        <a:srgbClr val="F4F7FB"/>
      </a:lt2>
      <a:accent1>
        <a:srgbClr val="2A78D6"/>
      </a:accent1>
      <a:accent2>
        <a:srgbClr val="A9C8EE"/>
      </a:accent2>
      <a:accent3>
        <a:srgbClr val="6B6B6B"/>
      </a:accent3>
      <a:accent4>
        <a:srgbClr val="C4C4C4"/>
      </a:accent4>
      <a:accent5>
        <a:srgbClr val="1B4F91"/>
      </a:accent5>
      <a:accent6>
        <a:srgbClr val="EAF2FC"/>
      </a:accent6>
      <a:hlink>
        <a:srgbClr val="2A78D6"/>
      </a:hlink>
      <a:folHlink>
        <a:srgbClr val="1B4F91"/>
      </a:folHlink>
    </a:clrScheme>
    <a:fontScheme name="Futebol e economi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país mais rico ganha a Copa?</dc:title>
  <dc:subject>PptxGenJS Presentation</dc:subject>
  <dc:creator>Luan Saviski, Miguel Gradella, Gabriel Wendt</dc:creator>
  <cp:lastModifiedBy>Luan Saviski, Miguel Gradella, Gabriel Wendt</cp:lastModifiedBy>
  <cp:revision>1</cp:revision>
  <dcterms:created xsi:type="dcterms:W3CDTF">2026-10-08T13:20:35Z</dcterms:created>
  <dcterms:modified xsi:type="dcterms:W3CDTF">2026-10-08T13:20:35Z</dcterms:modified>
</cp:coreProperties>
</file>